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102C57"/>
                </a:solidFill>
                <a:latin typeface="Georgia"/>
              </a:defRPr>
            </a:pPr>
            <a:r>
              <a:t>NyayaAI</a:t>
            </a:r>
          </a:p>
          <a:p>
            <a:pPr>
              <a:spcBef>
                <a:spcPts val="1000"/>
              </a:spcBef>
              <a:defRPr sz="2800" b="1">
                <a:solidFill>
                  <a:srgbClr val="B48C28"/>
                </a:solidFill>
                <a:latin typeface="Arial"/>
              </a:defRPr>
            </a:pPr>
            <a:r>
              <a:t>AI-Powered Legal Case Analysis and Outcome 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23232"/>
                </a:solidFill>
                <a:latin typeface="Arial"/>
              </a:defRPr>
            </a:pPr>
            <a:r>
              <a:t>MCA Final Year Project Presentation</a:t>
            </a:r>
            <a:br/>
            <a:r>
              <a:t>Indian Legal Domain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2C57"/>
                </a:solidFill>
                <a:latin typeface="Georgia"/>
              </a:defRPr>
            </a:pPr>
            <a:r>
              <a:t>1) 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36576"/>
          </a:xfrm>
          <a:prstGeom prst="rect">
            <a:avLst/>
          </a:prstGeom>
          <a:solidFill>
            <a:srgbClr val="B4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spcAft>
                <a:spcPts val="200"/>
              </a:spcAft>
              <a:defRPr b="1" sz="1800">
                <a:solidFill>
                  <a:srgbClr val="102C57"/>
                </a:solidFill>
                <a:latin typeface="Arial"/>
              </a:defRPr>
            </a:pPr>
            <a:r>
              <a:t>•  Huge Case Backlogs in Indian Courts: </a:t>
            </a:r>
          </a:p>
          <a:p>
            <a:pPr>
              <a:spcAft>
                <a:spcPts val="1000"/>
              </a:spcAft>
              <a:defRPr sz="1500">
                <a:solidFill>
                  <a:srgbClr val="323232"/>
                </a:solidFill>
                <a:latin typeface="Arial"/>
              </a:defRPr>
            </a:pPr>
            <a:r>
              <a:t>    Over 4.5 crore (45 million) pending cases create massive systemic delays in the Indian judicial system.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b="1" sz="1800">
                <a:solidFill>
                  <a:srgbClr val="102C57"/>
                </a:solidFill>
                <a:latin typeface="Arial"/>
              </a:defRPr>
            </a:pPr>
            <a:r>
              <a:t>•  Information Asymmetry for Common Litigants: </a:t>
            </a:r>
          </a:p>
          <a:p>
            <a:pPr>
              <a:spcAft>
                <a:spcPts val="1000"/>
              </a:spcAft>
              <a:defRPr sz="1500">
                <a:solidFill>
                  <a:srgbClr val="323232"/>
                </a:solidFill>
                <a:latin typeface="Arial"/>
              </a:defRPr>
            </a:pPr>
            <a:r>
              <a:t>    Citizens lack accessible, affordable platforms to understand the potential strength and merits of their legal grievances.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b="1" sz="1800">
                <a:solidFill>
                  <a:srgbClr val="102C57"/>
                </a:solidFill>
                <a:latin typeface="Arial"/>
              </a:defRPr>
            </a:pPr>
            <a:r>
              <a:t>•  Manual Precedent Research Burden: </a:t>
            </a:r>
          </a:p>
          <a:p>
            <a:pPr>
              <a:spcAft>
                <a:spcPts val="1000"/>
              </a:spcAft>
              <a:defRPr sz="1500">
                <a:solidFill>
                  <a:srgbClr val="323232"/>
                </a:solidFill>
                <a:latin typeface="Arial"/>
              </a:defRPr>
            </a:pPr>
            <a:r>
              <a:t>    Lawyers waste valuable hours search-filtering thousands of historical judgments to identify matching case facts and sections.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b="1" sz="1800">
                <a:solidFill>
                  <a:srgbClr val="102C57"/>
                </a:solidFill>
                <a:latin typeface="Arial"/>
              </a:defRPr>
            </a:pPr>
            <a:r>
              <a:t>•  Absence of Explainable Predictive Tech: </a:t>
            </a:r>
          </a:p>
          <a:p>
            <a:pPr>
              <a:spcAft>
                <a:spcPts val="1000"/>
              </a:spcAft>
              <a:defRPr sz="1500">
                <a:solidFill>
                  <a:srgbClr val="323232"/>
                </a:solidFill>
                <a:latin typeface="Arial"/>
              </a:defRPr>
            </a:pPr>
            <a:r>
              <a:t>    There is no open, evidence-based simulation framework to evaluate how evidence variations impact outcome probability.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2C57"/>
                </a:solidFill>
                <a:latin typeface="Georgia"/>
              </a:defRPr>
            </a:pPr>
            <a:r>
              <a:t>2) Objectives &amp; Core Functionalities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36576"/>
          </a:xfrm>
          <a:prstGeom prst="rect">
            <a:avLst/>
          </a:prstGeom>
          <a:solidFill>
            <a:srgbClr val="B4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b="1" sz="1800">
                <a:solidFill>
                  <a:srgbClr val="102C57"/>
                </a:solidFill>
              </a:defRPr>
            </a:pPr>
            <a:r>
              <a:t>✓  Natural Language Analysis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t>    Allows users to write problems in plain text; automatically parses timelines, key entities, and disputes.</a:t>
            </a:r>
          </a:p>
          <a:p>
            <a:pPr>
              <a:spcBef>
                <a:spcPts val="1000"/>
              </a:spcBef>
              <a:defRPr b="1" sz="1800">
                <a:solidFill>
                  <a:srgbClr val="102C57"/>
                </a:solidFill>
              </a:defRPr>
            </a:pPr>
            <a:r>
              <a:t>✓  Statutory Provisions Matcher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t>    Leverages NLP to extract legal topics and map matches to IPC/BNS sections dynamically.</a:t>
            </a:r>
          </a:p>
          <a:p>
            <a:pPr>
              <a:spcBef>
                <a:spcPts val="1000"/>
              </a:spcBef>
              <a:defRPr b="1" sz="1800">
                <a:solidFill>
                  <a:srgbClr val="102C57"/>
                </a:solidFill>
              </a:defRPr>
            </a:pPr>
            <a:r>
              <a:t>✓  Precedent Retrieval Engine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t>    Queries historical records using cosine similarity to isolate top similar judgments.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b="1" sz="1800">
                <a:solidFill>
                  <a:srgbClr val="102C57"/>
                </a:solidFill>
              </a:defRPr>
            </a:pPr>
            <a:r>
              <a:t>✓  Outcome Prediction Model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t>    Provides evidence-based assessments showing reasoning, citations, and confidence metrics.</a:t>
            </a:r>
          </a:p>
          <a:p>
            <a:pPr>
              <a:spcBef>
                <a:spcPts val="1000"/>
              </a:spcBef>
              <a:defRPr b="1" sz="1800">
                <a:solidFill>
                  <a:srgbClr val="102C57"/>
                </a:solidFill>
              </a:defRPr>
            </a:pPr>
            <a:r>
              <a:t>✓  Factual 'What-If' Simulator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t>    Enables lawyers to toggle evidence strength to evaluate outcome probability variations.</a:t>
            </a:r>
          </a:p>
          <a:p>
            <a:pPr>
              <a:spcBef>
                <a:spcPts val="1000"/>
              </a:spcBef>
              <a:defRPr b="1" sz="1800">
                <a:solidFill>
                  <a:srgbClr val="102C57"/>
                </a:solidFill>
              </a:defRPr>
            </a:pPr>
            <a:r>
              <a:t>✓  Automated Report Generator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t>    Synthesizes analyses, laws, and outcomes into downloadable PDF case dockets.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2C57"/>
                </a:solidFill>
                <a:latin typeface="Georgia"/>
              </a:defRPr>
            </a:pPr>
            <a:r>
              <a:t>3) Tools &amp; Tech Specifications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36576"/>
          </a:xfrm>
          <a:prstGeom prst="rect">
            <a:avLst/>
          </a:prstGeom>
          <a:solidFill>
            <a:srgbClr val="B4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b="1" sz="2200">
                <a:solidFill>
                  <a:srgbClr val="B48C28"/>
                </a:solidFill>
              </a:defRPr>
            </a:pPr>
            <a:r>
              <a:t>Software Specifications</a:t>
            </a:r>
          </a:p>
          <a:p>
            <a:pPr>
              <a:spcAft>
                <a:spcPts val="600"/>
              </a:spcAft>
              <a:defRPr b="1" sz="1500">
                <a:solidFill>
                  <a:srgbClr val="102C57"/>
                </a:solidFill>
              </a:defRPr>
            </a:pPr>
            <a:r>
              <a:t>•  Frontend: </a:t>
            </a:r>
            <a:r>
              <a:t>React (TypeScript), Tailwind CSS v4, Recharts</a:t>
            </a:r>
          </a:p>
          <a:p>
            <a:pPr>
              <a:spcAft>
                <a:spcPts val="600"/>
              </a:spcAft>
              <a:defRPr b="1" sz="1500">
                <a:solidFill>
                  <a:srgbClr val="102C57"/>
                </a:solidFill>
              </a:defRPr>
            </a:pPr>
            <a:r>
              <a:t>•  Backend Framework: </a:t>
            </a:r>
            <a:r>
              <a:t>FastAPI (Python 3.12), SQLAlchemy ORM</a:t>
            </a:r>
          </a:p>
          <a:p>
            <a:pPr>
              <a:spcAft>
                <a:spcPts val="600"/>
              </a:spcAft>
              <a:defRPr b="1" sz="1500">
                <a:solidFill>
                  <a:srgbClr val="102C57"/>
                </a:solidFill>
              </a:defRPr>
            </a:pPr>
            <a:r>
              <a:t>•  Database: </a:t>
            </a:r>
            <a:r>
              <a:t>Supabase (Cloud PostgreSQL)</a:t>
            </a:r>
          </a:p>
          <a:p>
            <a:pPr>
              <a:spcAft>
                <a:spcPts val="600"/>
              </a:spcAft>
              <a:defRPr b="1" sz="1500">
                <a:solidFill>
                  <a:srgbClr val="102C57"/>
                </a:solidFill>
              </a:defRPr>
            </a:pPr>
            <a:r>
              <a:t>•  Text Processing: </a:t>
            </a:r>
            <a:r>
              <a:t>NLTK, Scikit-learn (TF-IDF, Cosine Similarity)</a:t>
            </a:r>
          </a:p>
          <a:p>
            <a:pPr>
              <a:spcAft>
                <a:spcPts val="600"/>
              </a:spcAft>
              <a:defRPr b="1" sz="1500">
                <a:solidFill>
                  <a:srgbClr val="102C57"/>
                </a:solidFill>
              </a:defRPr>
            </a:pPr>
            <a:r>
              <a:t>•  Production Server: </a:t>
            </a:r>
            <a:r>
              <a:t>Uvicorn, Gunicorn, Nginx</a:t>
            </a:r>
          </a:p>
          <a:p>
            <a:pPr>
              <a:spcAft>
                <a:spcPts val="600"/>
              </a:spcAft>
              <a:defRPr b="1" sz="1500">
                <a:solidFill>
                  <a:srgbClr val="102C57"/>
                </a:solidFill>
              </a:defRPr>
            </a:pPr>
            <a:r>
              <a:t>•  Deployment platforms: </a:t>
            </a:r>
            <a:r>
              <a:t>Vercel (Frontend), Docker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b="1" sz="2200">
                <a:solidFill>
                  <a:srgbClr val="B48C28"/>
                </a:solidFill>
              </a:defRPr>
            </a:pPr>
            <a:r>
              <a:t>Hardware Specifications</a:t>
            </a:r>
          </a:p>
          <a:p>
            <a:pPr>
              <a:spcAft>
                <a:spcPts val="600"/>
              </a:spcAft>
              <a:defRPr b="1" sz="1500">
                <a:solidFill>
                  <a:srgbClr val="102C57"/>
                </a:solidFill>
              </a:defRPr>
            </a:pPr>
            <a:r>
              <a:t>•  Processor: </a:t>
            </a:r>
            <a:r>
              <a:t>Intel Core i5 / AMD Ryzen 5 or higher</a:t>
            </a:r>
          </a:p>
          <a:p>
            <a:pPr>
              <a:spcAft>
                <a:spcPts val="600"/>
              </a:spcAft>
              <a:defRPr b="1" sz="1500">
                <a:solidFill>
                  <a:srgbClr val="102C57"/>
                </a:solidFill>
              </a:defRPr>
            </a:pPr>
            <a:r>
              <a:t>•  System Memory (RAM): </a:t>
            </a:r>
            <a:r>
              <a:t>8 GB minimum (16 GB recommended)</a:t>
            </a:r>
          </a:p>
          <a:p>
            <a:pPr>
              <a:spcAft>
                <a:spcPts val="600"/>
              </a:spcAft>
              <a:defRPr b="1" sz="1500">
                <a:solidFill>
                  <a:srgbClr val="102C57"/>
                </a:solidFill>
              </a:defRPr>
            </a:pPr>
            <a:r>
              <a:t>•  Storage Drive: </a:t>
            </a:r>
            <a:r>
              <a:t>256 GB SSD (Solid State Drive) minimum</a:t>
            </a:r>
          </a:p>
          <a:p>
            <a:pPr>
              <a:spcAft>
                <a:spcPts val="600"/>
              </a:spcAft>
              <a:defRPr b="1" sz="1500">
                <a:solidFill>
                  <a:srgbClr val="102C57"/>
                </a:solidFill>
              </a:defRPr>
            </a:pPr>
            <a:r>
              <a:t>•  Local Dev Host: </a:t>
            </a:r>
            <a:r>
              <a:t>Localhost (Windows/Linux/macOS)</a:t>
            </a:r>
          </a:p>
          <a:p>
            <a:pPr>
              <a:spcAft>
                <a:spcPts val="600"/>
              </a:spcAft>
              <a:defRPr b="1" sz="1500">
                <a:solidFill>
                  <a:srgbClr val="102C57"/>
                </a:solidFill>
              </a:defRPr>
            </a:pPr>
            <a:r>
              <a:t>•  Cloud Database Host: </a:t>
            </a:r>
            <a:r>
              <a:t>Supabase Cloud Database Cluster</a:t>
            </a:r>
          </a:p>
          <a:p>
            <a:pPr>
              <a:spcAft>
                <a:spcPts val="600"/>
              </a:spcAft>
              <a:defRPr b="1" sz="1500">
                <a:solidFill>
                  <a:srgbClr val="102C57"/>
                </a:solidFill>
              </a:defRPr>
            </a:pPr>
            <a:r>
              <a:t>•  Cloud Host Hosting: </a:t>
            </a:r>
            <a:r>
              <a:t>Vercel Web Servers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2C57"/>
                </a:solidFill>
                <a:latin typeface="Georgia"/>
              </a:defRPr>
            </a:pPr>
            <a:r>
              <a:t>4) Domain &amp; Literature Survey (10 Papers)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36576"/>
          </a:xfrm>
          <a:prstGeom prst="rect">
            <a:avLst/>
          </a:prstGeom>
          <a:solidFill>
            <a:srgbClr val="B4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102C57"/>
                </a:solidFill>
              </a:defRPr>
            </a:pPr>
            <a:r>
              <a:t>1. Judicial Decision Prediction via NLP</a:t>
            </a:r>
          </a:p>
          <a:p>
            <a:pPr>
              <a:spcAft>
                <a:spcPts val="800"/>
              </a:spcAft>
              <a:defRPr sz="1200">
                <a:solidFill>
                  <a:srgbClr val="323232"/>
                </a:solidFill>
              </a:defRPr>
            </a:pPr>
            <a:r>
              <a:t>Explores SVM and Naive Bayes for outcome classification in commercial disputes.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2. Semantic Case Retrieval Systems</a:t>
            </a:r>
          </a:p>
          <a:p>
            <a:pPr>
              <a:spcAft>
                <a:spcPts val="800"/>
              </a:spcAft>
              <a:defRPr sz="1200">
                <a:solidFill>
                  <a:srgbClr val="323232"/>
                </a:solidFill>
              </a:defRPr>
            </a:pPr>
            <a:r>
              <a:t>Implements vector-space search and Cosine similarity for matching case facts.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3. Indian Legal Text Digitalization</a:t>
            </a:r>
          </a:p>
          <a:p>
            <a:pPr>
              <a:spcAft>
                <a:spcPts val="800"/>
              </a:spcAft>
              <a:defRPr sz="1200">
                <a:solidFill>
                  <a:srgbClr val="323232"/>
                </a:solidFill>
              </a:defRPr>
            </a:pPr>
            <a:r>
              <a:t>Studies structures of the National Judicial Data Grid (NJDG) and API endpoints.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4. Named Entity Recognition in Law</a:t>
            </a:r>
          </a:p>
          <a:p>
            <a:pPr>
              <a:spcAft>
                <a:spcPts val="800"/>
              </a:spcAft>
              <a:defRPr sz="1200">
                <a:solidFill>
                  <a:srgbClr val="323232"/>
                </a:solidFill>
              </a:defRPr>
            </a:pPr>
            <a:r>
              <a:t>Identifies entities (Judges, Lawyers, Statutes, and Sections) using rule-based parsing.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5. Explainable AI (XAI) in Litigation</a:t>
            </a:r>
          </a:p>
          <a:p>
            <a:pPr>
              <a:spcAft>
                <a:spcPts val="800"/>
              </a:spcAft>
              <a:defRPr sz="1200">
                <a:solidFill>
                  <a:srgbClr val="323232"/>
                </a:solidFill>
              </a:defRPr>
            </a:pPr>
            <a:r>
              <a:t>Focuses on providing transparent reasoning chains rather than black-box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102C57"/>
                </a:solidFill>
              </a:defRPr>
            </a:pPr>
            <a:r>
              <a:t>6. Statute Recommendation Engines</a:t>
            </a:r>
          </a:p>
          <a:p>
            <a:pPr>
              <a:spcAft>
                <a:spcPts val="800"/>
              </a:spcAft>
              <a:defRPr sz="1200">
                <a:solidFill>
                  <a:srgbClr val="323232"/>
                </a:solidFill>
              </a:defRPr>
            </a:pPr>
            <a:r>
              <a:t>Matches natural language statements to legal provisions (IPC/BNS and CrPC).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7. Vector Indexing for Precedents</a:t>
            </a:r>
          </a:p>
          <a:p>
            <a:pPr>
              <a:spcAft>
                <a:spcPts val="800"/>
              </a:spcAft>
              <a:defRPr sz="1200">
                <a:solidFill>
                  <a:srgbClr val="323232"/>
                </a:solidFill>
              </a:defRPr>
            </a:pPr>
            <a:r>
              <a:t>Analyzes performance of high-dimensional case vector databases.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8. Factual Simulation in Lawsuits</a:t>
            </a:r>
          </a:p>
          <a:p>
            <a:pPr>
              <a:spcAft>
                <a:spcPts val="800"/>
              </a:spcAft>
              <a:defRPr sz="1200">
                <a:solidFill>
                  <a:srgbClr val="323232"/>
                </a:solidFill>
              </a:defRPr>
            </a:pPr>
            <a:r>
              <a:t>Models counterfactual arguments and their influence on final judicial outputs.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9. Legal Chatbots using RAG</a:t>
            </a:r>
          </a:p>
          <a:p>
            <a:pPr>
              <a:spcAft>
                <a:spcPts val="800"/>
              </a:spcAft>
              <a:defRPr sz="1200">
                <a:solidFill>
                  <a:srgbClr val="323232"/>
                </a:solidFill>
              </a:defRPr>
            </a:pPr>
            <a:r>
              <a:t>Combines verified legal codices with NLP to provide factual, secure chat answers.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10. Sentiment Analysis in Judicial Text</a:t>
            </a:r>
          </a:p>
          <a:p>
            <a:pPr>
              <a:spcAft>
                <a:spcPts val="800"/>
              </a:spcAft>
              <a:defRPr sz="1200">
                <a:solidFill>
                  <a:srgbClr val="323232"/>
                </a:solidFill>
              </a:defRPr>
            </a:pPr>
            <a:r>
              <a:t>Evaluates tone, keywords, and semantic structure of written judgment summaries.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2C57"/>
                </a:solidFill>
                <a:latin typeface="Georgia"/>
              </a:defRPr>
            </a:pPr>
            <a:r>
              <a:t>5) Comparison of Existing Applications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36576"/>
          </a:xfrm>
          <a:prstGeom prst="rect">
            <a:avLst/>
          </a:prstGeom>
          <a:solidFill>
            <a:srgbClr val="B4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45920"/>
          <a:ext cx="108173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112"/>
                <a:gridCol w="2926080"/>
                <a:gridCol w="2926080"/>
                <a:gridCol w="2926080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Traditional Portals (SCC, Manupatra)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Modern Startups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NyayaAI (Ours)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2C57"/>
                          </a:solidFill>
                        </a:defRPr>
                      </a:pPr>
                      <a:r>
                        <a:t>Search Methodology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Strictly keyword-based searches; requires exact query matches.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Basic Natural Language Search inputs.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23232"/>
                          </a:solidFill>
                        </a:defRPr>
                      </a:pPr>
                      <a:r>
                        <a:t>Deep semantic retrieval (TF-IDF &amp; Cosine Similarity search).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2C57"/>
                          </a:solidFill>
                        </a:defRPr>
                      </a:pPr>
                      <a:r>
                        <a:t>Prediction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None. Provides database directory index lists 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Basic analytics percentages without citations.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23232"/>
                          </a:solidFill>
                        </a:defRPr>
                      </a:pPr>
                      <a:r>
                        <a:t>Evidence-based outcome prediction with confidence scores &amp; citations.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2C57"/>
                          </a:solidFill>
                        </a:defRPr>
                      </a:pPr>
                      <a:r>
                        <a:t>What-If Fact Simulation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Not Available.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Not Available.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23232"/>
                          </a:solidFill>
                        </a:defRPr>
                      </a:pPr>
                      <a:r>
                        <a:t>Interactive Fact &amp; Evidence strength simulator with real-time recalculations.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31352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B48C28"/>
                </a:solidFill>
                <a:latin typeface="Georgia"/>
              </a:defRPr>
            </a:pPr>
            <a:r>
              <a:t>Thank You</a:t>
            </a:r>
          </a:p>
          <a:p>
            <a:pPr algn="ctr">
              <a:spcBef>
                <a:spcPts val="2000"/>
              </a:spcBef>
              <a:defRPr sz="2000">
                <a:solidFill>
                  <a:srgbClr val="FFFFFF"/>
                </a:solidFill>
                <a:latin typeface="Arial"/>
              </a:defRPr>
            </a:pPr>
            <a:r>
              <a:t>NyayaAI: AI-Powered Legal Case Analysis &amp; Outcome Prediction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