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87952" y="0"/>
            <a:ext cx="8001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B48C28"/>
                </a:solidFill>
                <a:latin typeface="Georgia"/>
              </a:defRPr>
            </a:pPr>
            <a:r>
              <a:t>NyayaAI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AI Legal Precedent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102C57"/>
                </a:solidFill>
                <a:latin typeface="Georgia"/>
              </a:defRPr>
            </a:pPr>
            <a:r>
              <a:t>AI-Powered Legal Case Analysis &amp; Outcome Prediction System</a:t>
            </a:r>
          </a:p>
          <a:p>
            <a:pPr>
              <a:defRPr sz="1800">
                <a:solidFill>
                  <a:srgbClr val="282828"/>
                </a:solidFill>
                <a:latin typeface="Arial"/>
              </a:defRPr>
            </a:pPr>
            <a:r>
              <a:t>MCA Final Year Project Presentation</a:t>
            </a:r>
            <a:br/>
            <a:r>
              <a:t>Indian Judicial Analytics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Georgia"/>
              </a:defRPr>
            </a:pPr>
            <a:r>
              <a:t>1)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45720"/>
          </a:xfrm>
          <a:prstGeom prst="rect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8C2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4.5 Crore Pending Cases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Indian courts suffer from massive backlogs, causing prolonged litigation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8C28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600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Information Asymmetry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Citizens and small business entities lack affordable analytical tools to evaluate case merit.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8C2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69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Tedious Manual Retrieval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Advocates waste critical hours cross-referencing vast judgment databases for matching 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8C28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069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Inflexible Case Planning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No quantitative tools to simulate 'what-if' scenarios based on different evidence/argument strengths.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Georgia"/>
              </a:defRPr>
            </a:pPr>
            <a:r>
              <a:t>2) Objectives (Core Functionalities)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45720"/>
          </a:xfrm>
          <a:prstGeom prst="rect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8C28"/>
                </a:solidFill>
                <a:latin typeface="Georgia"/>
              </a:defRPr>
            </a:pPr>
            <a:r>
              <a:t>User Input &amp; Similarity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✓  Natural Language Parse: </a:t>
            </a:r>
            <a:r>
              <a:t>Extracts legal timelines and entities from raw text.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✓  Statute Mapping: </a:t>
            </a:r>
            <a:r>
              <a:t>Automatically matches parsed queries to active legal provisions (IPC/BNS).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✓  Semantic retrieval: </a:t>
            </a:r>
            <a:r>
              <a:t>Employs Cosine Similarity vector matching to fetch closest historical precedents.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8C28"/>
                </a:solidFill>
                <a:latin typeface="Georgia"/>
              </a:defRPr>
            </a:pPr>
            <a:r>
              <a:t>Analytics &amp; Report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✓  Evidence Predictor: </a:t>
            </a:r>
            <a:r>
              <a:t>Forecasts outcome probabilities based on historical weights &amp; classification.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✓  What-If Simulator: </a:t>
            </a:r>
            <a:r>
              <a:t>Enables advocates to test argument variables and see changes dynamically.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✓  Executive PDF Export: </a:t>
            </a:r>
            <a:r>
              <a:t>Builds downloadable PDF dockets with summaries, citations, and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Georgia"/>
              </a:defRPr>
            </a:pPr>
            <a:r>
              <a:t>3) Tools &amp; Tech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45720"/>
          </a:xfrm>
          <a:prstGeom prst="rect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2C57"/>
                </a:solidFill>
                <a:latin typeface="Georgia"/>
              </a:defRPr>
            </a:pPr>
            <a:r>
              <a:t>Software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UI &amp; Styling: </a:t>
            </a:r>
            <a:r>
              <a:t>React (TypeScript), Tailwind CSS v4, Recharts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API &amp; Server: </a:t>
            </a:r>
            <a:r>
              <a:t>FastAPI (Python 3.12), SQLAlchemy ORM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Database: </a:t>
            </a:r>
            <a:r>
              <a:t>Supabase (Cloud PostgreSQL)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ML &amp; NLP Core: </a:t>
            </a:r>
            <a:r>
              <a:t>Scikit-learn, NLTK, TF-IDF Vecs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Deployment: </a:t>
            </a:r>
            <a:r>
              <a:t>Vercel Web Portal, Docker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2C57"/>
                </a:solidFill>
                <a:latin typeface="Georgia"/>
              </a:defRPr>
            </a:pPr>
            <a:r>
              <a:t>Hardware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Processor: </a:t>
            </a:r>
            <a:r>
              <a:t>Intel Core i5 / AMD Ryzen 5 or higher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System RAM: </a:t>
            </a:r>
            <a:r>
              <a:t>8 GB DDR4 minimum (16 GB recommended)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Hard Drive: </a:t>
            </a:r>
            <a:r>
              <a:t>256 GB NVMe SSD drive minimum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Server Cluster: </a:t>
            </a:r>
            <a:r>
              <a:t>Supabase Shared Cloud Core (AWS Hosting)</a:t>
            </a:r>
          </a:p>
          <a:p>
            <a:pPr>
              <a:spcAft>
                <a:spcPts val="1200"/>
              </a:spcAft>
              <a:defRPr b="1" sz="1400">
                <a:solidFill>
                  <a:srgbClr val="282828"/>
                </a:solidFill>
              </a:defRPr>
            </a:pPr>
            <a:r>
              <a:t>•  Client Engine: </a:t>
            </a:r>
            <a:r>
              <a:t>Web browser interface (Chrome / Edge / Firefox)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Georgia"/>
              </a:defRPr>
            </a:pPr>
            <a:r>
              <a:t>4) Domain &amp; 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45720"/>
          </a:xfrm>
          <a:prstGeom prst="rect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01. SVM Classifiers for Law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Evaluates support vector machines in legal case categorization.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2072" y="146304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02. Semantic Precedent Search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Information retrieval models using cosine matching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38344" y="146304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03. Legal NER Architectures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Identifies sections, acts, and citations from judicial texts.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4616" y="146304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04. Digitization in Judiciary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Analyzes the framework structure of the Indian NJDG.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90888" y="146304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05. Explainable AI (XAI)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Discusses visual representation of logical chains in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06. Recommendation Engines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Dynamic mapping systems correlating facts to specific statutes.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347472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07. Vector Space Indexes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Analyzes vector database latency during large precedent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347472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08. Counterfactual Simulators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Evaluates causal graph dependencies in judicial arguments.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14616" y="347472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09. Legal Question-Answering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Leverages RAG pipelines for secure legal knowledge lookup.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347472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Arial"/>
              </a:defRPr>
            </a:pPr>
            <a:r>
              <a:t>10. Sentiment &amp; Keyword Weights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Extracts keyword frequencies to categorize court verdicts.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Georgia"/>
              </a:defRPr>
            </a:pPr>
            <a:r>
              <a:t>5) Comparison of Existing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45720"/>
          </a:xfrm>
          <a:prstGeom prst="rect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81735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953512"/>
              </a:tblGrid>
              <a:tr h="10515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Traditional Portals (SCC, Manupatra)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Modern Startups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NyayaAI (Ours)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Search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Strictly keyword matches; requires exact strings.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Basic NLP inputs.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Deep semantic retrieval via Cosine Similarity (TF-IDF vector weights).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Predictive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None. Act solely as database directories.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Basic statistics without citation links.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Explainable prediction output with confidence scores &amp; precedent citations.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What-If Fact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Not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Not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Interactive Fact &amp; Evidence strength simulator with instant cloud updates.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48C28"/>
                </a:solidFill>
                <a:latin typeface="Georgia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NyayaAI: AI-Powered Legal Case Analysis &amp; Outcome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